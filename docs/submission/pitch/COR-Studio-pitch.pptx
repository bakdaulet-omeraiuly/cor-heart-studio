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00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solidFill>
          <a:schemeClr val="tx1"/>
        </a:solidFill>
        <a:latin typeface="Arial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[0:00-0:08 · 8 s]</a:t>
            </a:r>
          </a:p>
          <a:p>
            <a:r>
              <a:rPr lang="en-US" sz="1200" dirty="0"/>
              <a:t>Hi, we're team COR. COR Studio grades heart and brain records by guidelines in 3D, and code checks the AI.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[0:08-0:25 · 17 s]</a:t>
            </a:r>
          </a:p>
          <a:p>
            <a:r>
              <a:rPr lang="en-US" sz="1200" dirty="0"/>
              <a:t>AI describes heart studies fluently, but nobody can check where its claims came from. In our first test, Claude alone on raw records got zero of four grades right and invented a number. Records are messy, and notes can hide instructions.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[0:25-0:45 · 20 s]</a:t>
            </a:r>
          </a:p>
          <a:p>
            <a:r>
              <a:rPr lang="en-US" sz="1200" dirty="0"/>
              <a:t>So code does the grading: 41 rules, each with a threshold and a guideline DOI, no AI. Claude only explains that result and never sees the raw record. Code checks every number and citation before a reply is shown, and the 3D view follows.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[0:45-1:00 · 15 s]</a:t>
            </a:r>
          </a:p>
          <a:p>
            <a:r>
              <a:rPr lang="en-US" sz="1200" dirty="0"/>
              <a:t>With that split: four of four grades right, nothing invented, every reply passed the check. These are our own synthetic cases, not clinical validation.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[1:00-1:40 · 40 s · LIVE DEMO]</a:t>
            </a:r>
          </a:p>
          <a:p>
            <a:r>
              <a:rPr lang="en-US" sz="1200" dirty="0"/>
              <a:t>Say first: 'Everything you'll see is a synthetic patient; data sources are credited on screen.'</a:t>
            </a:r>
          </a:p>
          <a:p>
            <a:r>
              <a:rPr lang="en-US" sz="1200" dirty="0"/>
              <a:t>1. Open Synthetic 04 (aortic stenosis): graded moderate with rule + DOI. Ask 'Why is this moderate?' and the view jumps to the valve with an [R#] citation. (15 s)</a:t>
            </a:r>
          </a:p>
          <a:p>
            <a:r>
              <a:rPr lang="en-US" sz="1200" dirty="0"/>
              <a:t>2. Outlook at +5 years: cohort average with a range, labelled 'not a forecast for this patient'. (12 s)</a:t>
            </a:r>
          </a:p>
          <a:p>
            <a:r>
              <a:rPr lang="en-US" sz="1200" dirty="0"/>
              <a:t>3. Brain: hippocampus volume vs published ageing ranges, with linked MRI slices. (13 s)</a:t>
            </a:r>
          </a:p>
          <a:p>
            <a:r>
              <a:rPr lang="en-US" sz="1200" dirty="0"/>
              <a:t>If anything stalls, switch to the backup recording. Don't debug on stage.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[1:40-2:05 · 25 s]</a:t>
            </a:r>
          </a:p>
          <a:p>
            <a:r>
              <a:rPr lang="en-US" sz="1200" dirty="0"/>
              <a:t>Our ethics in one slide. Nothing behind a login, nothing scraped: only official, openly licensed releases, licence checked first. No real patients, and the AI never sees the raw record. Every dataset and guideline is credited on screen, and when a guideline changes, our tests show what moved.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[2:05-2:20 · 15 s]</a:t>
            </a:r>
          </a:p>
          <a:p>
            <a:r>
              <a:rPr lang="en-US" sz="1200" dirty="0"/>
              <a:t>We built it spec-first with Kiro: a spec each, one shared contract, every threshold tested on both sides, and property tests that caught a real bug.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[2:20-2:30 · 10 s]</a:t>
            </a:r>
          </a:p>
          <a:p>
            <a:r>
              <a:rPr lang="en-US" sz="1200" dirty="0"/>
              <a:t>Next: clinician review and a full evaluation. COR Studio: the AI explains, code checks every number.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735A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E8735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4" name="Text 4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E8735A"/>
                </a:solidFill>
                <a:latin typeface="Arial"/>
                <a:cs typeface="Arial"/>
              </a:rPr>
              <a:t>HEALTHCARE &amp; BIOTECH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1520" y="182880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5400" b="1" dirty="0">
                <a:solidFill>
                  <a:srgbClr val="F2F3F5"/>
                </a:solidFill>
                <a:latin typeface="Arial"/>
                <a:cs typeface="Arial"/>
              </a:rPr>
              <a:t>COR Studio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31520" y="283464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900" b="0" dirty="0">
                <a:solidFill>
                  <a:srgbClr val="F2F3F5"/>
                </a:solidFill>
                <a:latin typeface="Arial"/>
                <a:cs typeface="Arial"/>
              </a:rPr>
              <a:t>Guideline-graded 3D heart &amp; brain from patient records.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E8735A"/>
                </a:solidFill>
                <a:latin typeface="Arial"/>
                <a:cs typeface="Arial"/>
              </a:rPr>
              <a:t>AI explains, code checks every cited number.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20" y="4389120"/>
            <a:ext cx="548640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00" b="0" dirty="0">
                <a:solidFill>
                  <a:srgbClr val="9AA0AA"/>
                </a:solidFill>
                <a:latin typeface="Arial"/>
                <a:cs typeface="Arial"/>
              </a:rPr>
              <a:t>Decision support for physicians and a transparent analysis tool for researchers.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300" b="0" dirty="0">
                <a:solidFill>
                  <a:srgbClr val="9AA0AA"/>
                </a:solidFill>
                <a:latin typeface="Arial"/>
                <a:cs typeface="Arial"/>
              </a:rPr>
              <a:t>Not a medical device · no diagnosis · synthetic and open data only.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200" b="0" dirty="0">
                <a:solidFill>
                  <a:srgbClr val="9AA0AA"/>
                </a:solidFill>
                <a:latin typeface="Arial"/>
                <a:cs typeface="Arial"/>
              </a:rPr>
              <a:t>Team COR  ·  Bakdaulet O.  ·  Mukhamed K.  ·  Islam K.</a:t>
            </a:r>
          </a:p>
        </p:txBody>
      </p:sp>
      <p:pic>
        <p:nvPicPr>
          <p:cNvPr id="9" name="hear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43000"/>
            <a:ext cx="2971800" cy="2971800"/>
          </a:xfrm>
          <a:prstGeom prst="rect">
            <a:avLst/>
          </a:prstGeom>
          <a:ln>
            <a:noFill/>
          </a:ln>
        </p:spPr>
      </p:pic>
      <p:pic>
        <p:nvPicPr>
          <p:cNvPr id="10" name="brai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143000"/>
            <a:ext cx="2971800" cy="2971800"/>
          </a:xfrm>
          <a:prstGeom prst="rect">
            <a:avLst/>
          </a:prstGeom>
          <a:ln>
            <a:noFill/>
          </a:ln>
        </p:spPr>
      </p:pic>
      <p:sp>
        <p:nvSpPr>
          <p:cNvPr id="11" name="Text 11"/>
          <p:cNvSpPr txBox="1"/>
          <p:nvPr/>
        </p:nvSpPr>
        <p:spPr>
          <a:xfrm>
            <a:off x="6355080" y="42062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2F3F5"/>
                </a:solidFill>
                <a:latin typeface="Arial"/>
                <a:cs typeface="Arial"/>
              </a:rPr>
              <a:t>3D heart from CT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TotalSegmentator s0270 · CC BY 4.0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9144000" y="42062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F2F3F5"/>
                </a:solidFill>
                <a:latin typeface="Arial"/>
                <a:cs typeface="Arial"/>
              </a:rPr>
              <a:t>3D brain from MRI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Mindboggle-101 · CC BY 4.0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355080" y="498348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Rendered from the app's own models · the record decides what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8735A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E8735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4" name="Text 4"/>
          <p:cNvSpPr txBox="1"/>
          <p:nvPr/>
        </p:nvSpPr>
        <p:spPr>
          <a:xfrm>
            <a:off x="731520" y="384048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E8735A"/>
                </a:solidFill>
                <a:latin typeface="Arial"/>
                <a:cs typeface="Arial"/>
              </a:rPr>
              <a:t>THE PROBLEM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1520" y="65836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2F3F5"/>
                </a:solidFill>
                <a:latin typeface="Arial"/>
                <a:cs typeface="Arial"/>
              </a:rPr>
              <a:t>AI can sound right and still be impossible to check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058400" y="38404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0:08 – 0:25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20" y="1600200"/>
            <a:ext cx="3931920" cy="420624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274320" tIns="274320" rIns="274320" bIns="2743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7200" b="1" dirty="0">
                <a:solidFill>
                  <a:srgbClr val="E5484D"/>
                </a:solidFill>
                <a:latin typeface="Arial"/>
                <a:cs typeface="Arial"/>
              </a:rPr>
              <a:t>0 / 4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600" b="0" dirty="0">
                <a:solidFill>
                  <a:srgbClr val="F2F3F5"/>
                </a:solidFill>
                <a:latin typeface="Arial"/>
                <a:cs typeface="Arial"/>
              </a:rPr>
              <a:t>guideline grades right when Claude read the raw records on its own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1400" b="0" dirty="0">
                <a:solidFill>
                  <a:srgbClr val="9AA0AA"/>
                </a:solidFill>
                <a:latin typeface="Arial"/>
                <a:cs typeface="Arial"/>
              </a:rPr>
              <a:t>…and 1 of 6 replies contained an invented number.</a:t>
            </a:r>
          </a:p>
          <a:p>
            <a:pPr algn="l">
              <a:spcBef>
                <a:spcPts val="1800"/>
              </a:spcBef>
              <a:buNone/>
            </a:pP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First smoke run, 5 cases, 1 run each: a small sample, not a clinical study.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983480" y="1600200"/>
            <a:ext cx="6629400" cy="1261872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201168" tIns="201168" rIns="201168" bIns="20116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E8735A"/>
                </a:solidFill>
                <a:latin typeface="Arial"/>
                <a:cs typeface="Arial"/>
              </a:rPr>
              <a:t>Clinicians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500" b="0" dirty="0">
                <a:solidFill>
                  <a:srgbClr val="F2F3F5"/>
                </a:solidFill>
                <a:latin typeface="Arial"/>
                <a:cs typeface="Arial"/>
              </a:rPr>
              <a:t>Can't tell a correct grade from an invented number. Which value, which threshold, which guideline?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983480" y="3017520"/>
            <a:ext cx="6629400" cy="1261872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201168" tIns="201168" rIns="201168" bIns="20116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E8735A"/>
                </a:solidFill>
                <a:latin typeface="Arial"/>
                <a:cs typeface="Arial"/>
              </a:rPr>
              <a:t>Researchers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500" b="0" dirty="0">
                <a:solidFill>
                  <a:srgbClr val="F2F3F5"/>
                </a:solidFill>
                <a:latin typeface="Arial"/>
                <a:cs typeface="Arial"/>
              </a:rPr>
              <a:t>No audit trail when hundreds of records go through a model, so results are hard to reproduce or publish.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983480" y="4434840"/>
            <a:ext cx="6629400" cy="1261872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201168" tIns="201168" rIns="201168" bIns="20116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E8735A"/>
                </a:solidFill>
                <a:latin typeface="Arial"/>
                <a:cs typeface="Arial"/>
              </a:rPr>
              <a:t>Real records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500" b="0" dirty="0">
                <a:solidFill>
                  <a:srgbClr val="F2F3F5"/>
                </a:solidFill>
                <a:latin typeface="Arial"/>
                <a:cs typeface="Arial"/>
              </a:rPr>
              <a:t>Missing units, incomplete fields, and free-text notes that can carry hidden instructions to the AI.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COR Studio  ·  Healthcare &amp; Biotech  ·  synthetic and open data  ·  not a medical device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8735A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E8735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4" name="Text 4"/>
          <p:cNvSpPr txBox="1"/>
          <p:nvPr/>
        </p:nvSpPr>
        <p:spPr>
          <a:xfrm>
            <a:off x="731520" y="384048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E8735A"/>
                </a:solidFill>
                <a:latin typeface="Arial"/>
                <a:cs typeface="Arial"/>
              </a:rPr>
              <a:t>HOW IT WORKS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1520" y="65836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2F3F5"/>
                </a:solidFill>
                <a:latin typeface="Arial"/>
                <a:cs typeface="Arial"/>
              </a:rPr>
              <a:t>Code computes, the AI explains, code checks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058400" y="38404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0:25 – 0:45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48640" y="1783080"/>
            <a:ext cx="1993392" cy="64008"/>
          </a:xfrm>
          <a:prstGeom prst="rect">
            <a:avLst/>
          </a:prstGeom>
          <a:solidFill>
            <a:srgbClr val="9AA0AA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9AA0A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8" name="Text 8"/>
          <p:cNvSpPr txBox="1"/>
          <p:nvPr/>
        </p:nvSpPr>
        <p:spPr>
          <a:xfrm>
            <a:off x="548640" y="1847088"/>
            <a:ext cx="1993392" cy="2057400"/>
          </a:xfrm>
          <a:prstGeom prst="rect">
            <a:avLst/>
          </a:prstGeom>
          <a:solidFill>
            <a:srgbClr val="181B22"/>
          </a:solidFill>
          <a:ln>
            <a:noFill/>
          </a:ln>
        </p:spPr>
        <p:txBody>
          <a:bodyPr wrap="square" lIns="146304" tIns="146304" rIns="146304" bIns="146304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9AA0AA"/>
                </a:solidFill>
                <a:latin typeface="Arial"/>
                <a:cs typeface="Arial"/>
              </a:rPr>
              <a:t>Structured record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50" b="0" dirty="0">
                <a:solidFill>
                  <a:srgbClr val="F2F3F5"/>
                </a:solidFill>
                <a:latin typeface="Arial"/>
                <a:cs typeface="Arial"/>
              </a:rPr>
              <a:t>Echo, CT angiography, ECG, brain MRI volumes. Synthetic patients.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2578608" y="2880360"/>
            <a:ext cx="228600" cy="0"/>
          </a:xfrm>
          <a:prstGeom prst="straightConnector1">
            <a:avLst/>
          </a:prstGeom>
          <a:ln w="28575">
            <a:solidFill>
              <a:srgbClr val="E8735A"/>
            </a:solidFill>
            <a:tailEnd type="triangle"/>
          </a:ln>
        </p:spPr>
      </p:cxnSp>
      <p:sp>
        <p:nvSpPr>
          <p:cNvPr id="10" name="Text 10"/>
          <p:cNvSpPr txBox="1"/>
          <p:nvPr/>
        </p:nvSpPr>
        <p:spPr>
          <a:xfrm>
            <a:off x="2843784" y="1783080"/>
            <a:ext cx="1993392" cy="64008"/>
          </a:xfrm>
          <a:prstGeom prst="rect">
            <a:avLst/>
          </a:prstGeom>
          <a:solidFill>
            <a:srgbClr val="E8735A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E8735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843784" y="1847088"/>
            <a:ext cx="1993392" cy="2057400"/>
          </a:xfrm>
          <a:prstGeom prst="rect">
            <a:avLst/>
          </a:prstGeom>
          <a:solidFill>
            <a:srgbClr val="181B22"/>
          </a:solidFill>
          <a:ln>
            <a:noFill/>
          </a:ln>
        </p:spPr>
        <p:txBody>
          <a:bodyPr wrap="square" lIns="146304" tIns="146304" rIns="146304" bIns="146304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E8735A"/>
                </a:solidFill>
                <a:latin typeface="Arial"/>
                <a:cs typeface="Arial"/>
              </a:rPr>
              <a:t>Diagnosis engine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50" b="0" dirty="0">
                <a:solidFill>
                  <a:srgbClr val="F2F3F5"/>
                </a:solidFill>
                <a:latin typeface="Arial"/>
                <a:cs typeface="Arial"/>
              </a:rPr>
              <a:t>Deterministic TypeScript, no AI. 41 rules, each with a threshold and a guideline DOI.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4873752" y="2880360"/>
            <a:ext cx="228600" cy="0"/>
          </a:xfrm>
          <a:prstGeom prst="straightConnector1">
            <a:avLst/>
          </a:prstGeom>
          <a:ln w="28575">
            <a:solidFill>
              <a:srgbClr val="E8735A"/>
            </a:solidFill>
            <a:tailEnd type="triangle"/>
          </a:ln>
        </p:spPr>
      </p:cxnSp>
      <p:sp>
        <p:nvSpPr>
          <p:cNvPr id="13" name="Text 13"/>
          <p:cNvSpPr txBox="1"/>
          <p:nvPr/>
        </p:nvSpPr>
        <p:spPr>
          <a:xfrm>
            <a:off x="5138928" y="1783080"/>
            <a:ext cx="1993392" cy="64008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8AB4F8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138928" y="1847088"/>
            <a:ext cx="1993392" cy="2057400"/>
          </a:xfrm>
          <a:prstGeom prst="rect">
            <a:avLst/>
          </a:prstGeom>
          <a:solidFill>
            <a:srgbClr val="181B22"/>
          </a:solidFill>
          <a:ln>
            <a:noFill/>
          </a:ln>
        </p:spPr>
        <p:txBody>
          <a:bodyPr wrap="square" lIns="146304" tIns="146304" rIns="146304" bIns="146304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8AB4F8"/>
                </a:solidFill>
                <a:latin typeface="Arial"/>
                <a:cs typeface="Arial"/>
              </a:rPr>
              <a:t>Claude explains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50" b="0" dirty="0">
                <a:solidFill>
                  <a:srgbClr val="F2F3F5"/>
                </a:solidFill>
                <a:latin typeface="Arial"/>
                <a:cs typeface="Arial"/>
              </a:rPr>
              <a:t>Gets only the engine result, never the raw record or its notes.</a:t>
            </a:r>
          </a:p>
        </p:txBody>
      </p:sp>
      <p:cxnSp>
        <p:nvCxnSpPr>
          <p:cNvPr id="15" name="Arrow 15"/>
          <p:cNvCxnSpPr/>
          <p:nvPr/>
        </p:nvCxnSpPr>
        <p:spPr>
          <a:xfrm>
            <a:off x="7168896" y="2880360"/>
            <a:ext cx="228600" cy="0"/>
          </a:xfrm>
          <a:prstGeom prst="straightConnector1">
            <a:avLst/>
          </a:prstGeom>
          <a:ln w="28575">
            <a:solidFill>
              <a:srgbClr val="E8735A"/>
            </a:solidFill>
            <a:tailEnd type="triangle"/>
          </a:ln>
        </p:spPr>
      </p:cxnSp>
      <p:sp>
        <p:nvSpPr>
          <p:cNvPr id="16" name="Text 16"/>
          <p:cNvSpPr txBox="1"/>
          <p:nvPr/>
        </p:nvSpPr>
        <p:spPr>
          <a:xfrm>
            <a:off x="7434072" y="1783080"/>
            <a:ext cx="1993392" cy="64008"/>
          </a:xfrm>
          <a:prstGeom prst="rect">
            <a:avLst/>
          </a:prstGeom>
          <a:solidFill>
            <a:srgbClr val="5CC48A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5CC48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434072" y="1847088"/>
            <a:ext cx="1993392" cy="2057400"/>
          </a:xfrm>
          <a:prstGeom prst="rect">
            <a:avLst/>
          </a:prstGeom>
          <a:solidFill>
            <a:srgbClr val="181B22"/>
          </a:solidFill>
          <a:ln>
            <a:noFill/>
          </a:ln>
        </p:spPr>
        <p:txBody>
          <a:bodyPr wrap="square" lIns="146304" tIns="146304" rIns="146304" bIns="146304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5CC48A"/>
                </a:solidFill>
                <a:latin typeface="Arial"/>
                <a:cs typeface="Arial"/>
              </a:rPr>
              <a:t>Code guard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50" b="0" dirty="0">
                <a:solidFill>
                  <a:srgbClr val="F2F3F5"/>
                </a:solidFill>
                <a:latin typeface="Arial"/>
                <a:cs typeface="Arial"/>
              </a:rPr>
              <a:t>Every number and [R#] citation must match the engine, or the reply is blocked.</a:t>
            </a:r>
          </a:p>
        </p:txBody>
      </p:sp>
      <p:cxnSp>
        <p:nvCxnSpPr>
          <p:cNvPr id="18" name="Arrow 18"/>
          <p:cNvCxnSpPr/>
          <p:nvPr/>
        </p:nvCxnSpPr>
        <p:spPr>
          <a:xfrm>
            <a:off x="9464040" y="2880360"/>
            <a:ext cx="228600" cy="0"/>
          </a:xfrm>
          <a:prstGeom prst="straightConnector1">
            <a:avLst/>
          </a:prstGeom>
          <a:ln w="28575">
            <a:solidFill>
              <a:srgbClr val="E8735A"/>
            </a:solidFill>
            <a:tailEnd type="triangle"/>
          </a:ln>
        </p:spPr>
      </p:cxnSp>
      <p:sp>
        <p:nvSpPr>
          <p:cNvPr id="19" name="Text 19"/>
          <p:cNvSpPr txBox="1"/>
          <p:nvPr/>
        </p:nvSpPr>
        <p:spPr>
          <a:xfrm>
            <a:off x="9729216" y="1783080"/>
            <a:ext cx="1993392" cy="64008"/>
          </a:xfrm>
          <a:prstGeom prst="rect">
            <a:avLst/>
          </a:prstGeom>
          <a:solidFill>
            <a:srgbClr val="E9B949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E9B949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729216" y="1847088"/>
            <a:ext cx="1993392" cy="2057400"/>
          </a:xfrm>
          <a:prstGeom prst="rect">
            <a:avLst/>
          </a:prstGeom>
          <a:solidFill>
            <a:srgbClr val="181B22"/>
          </a:solidFill>
          <a:ln>
            <a:noFill/>
          </a:ln>
        </p:spPr>
        <p:txBody>
          <a:bodyPr wrap="square" lIns="146304" tIns="146304" rIns="146304" bIns="146304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E9B949"/>
                </a:solidFill>
                <a:latin typeface="Arial"/>
                <a:cs typeface="Arial"/>
              </a:rPr>
              <a:t>3D heart &amp; brain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1250" b="0" dirty="0">
                <a:solidFill>
                  <a:srgbClr val="F2F3F5"/>
                </a:solidFill>
                <a:latin typeface="Arial"/>
                <a:cs typeface="Arial"/>
              </a:rPr>
              <a:t>The view moves to the finding being discussed.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8000"/>
            </a:avLst>
          </a:prstGeom>
          <a:solidFill>
            <a:srgbClr val="222631"/>
          </a:solidFill>
          <a:ln>
            <a:noFill/>
          </a:ln>
        </p:spPr>
        <p:txBody>
          <a:bodyPr wrap="square" lIns="201168" tIns="201168" rIns="201168" bIns="20116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9AA0AA"/>
                </a:solidFill>
                <a:latin typeface="Arial"/>
                <a:cs typeface="Arial"/>
              </a:rPr>
              <a:t>Output for every case: </a:t>
            </a:r>
            <a:r>
              <a:rPr lang="en-US" sz="1400" b="0" dirty="0">
                <a:solidFill>
                  <a:srgbClr val="F2F3F5"/>
                </a:solidFill>
                <a:latin typeface="Arial"/>
                <a:cs typeface="Arial"/>
              </a:rPr>
              <a:t>findings · differential · missing data · red flags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9AA0AA"/>
                </a:solidFill>
                <a:latin typeface="Arial"/>
                <a:cs typeface="Arial"/>
              </a:rPr>
              <a:t>Covered: </a:t>
            </a:r>
            <a:r>
              <a:rPr lang="en-US" sz="1400" b="0" dirty="0">
                <a:solidFill>
                  <a:srgbClr val="F2F3F5"/>
                </a:solidFill>
                <a:latin typeface="Arial"/>
                <a:cs typeface="Arial"/>
              </a:rPr>
              <a:t>aortic stenosis incl. low-gradient (ACC/AHA 2020) · regurgitation &amp; prolapse · LV function &amp; size (ASE/EACVI 2015, ESC 2021, AHA/ACC/HFSA 2022) · chambers · coronary (CAD-RADS 2.0) · ECG &amp; QTc · brain atrophy vs published ageing and Alzheimer's ranges</a:t>
            </a:r>
          </a:p>
          <a:p>
            <a:pPr algn="l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9AA0AA"/>
                </a:solidFill>
                <a:latin typeface="Arial"/>
                <a:cs typeface="Arial"/>
              </a:rPr>
              <a:t>Safety: </a:t>
            </a:r>
            <a:r>
              <a:rPr lang="en-US" sz="1400" b="0" dirty="0">
                <a:solidFill>
                  <a:srgbClr val="F2F3F5"/>
                </a:solidFill>
                <a:latin typeface="Arial"/>
                <a:cs typeface="Arial"/>
              </a:rPr>
              <a:t>red flags only ever say "urgent specialist review". Missing data is listed, never guessed.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COR Studio  ·  Healthcare &amp; Biotech  ·  synthetic and open data  ·  not a medical device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8735A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E8735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4" name="Text 4"/>
          <p:cNvSpPr txBox="1"/>
          <p:nvPr/>
        </p:nvSpPr>
        <p:spPr>
          <a:xfrm>
            <a:off x="731520" y="384048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E8735A"/>
                </a:solidFill>
                <a:latin typeface="Arial"/>
                <a:cs typeface="Arial"/>
              </a:rPr>
              <a:t>RESULTS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1520" y="65836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2F3F5"/>
                </a:solidFill>
                <a:latin typeface="Arial"/>
                <a:cs typeface="Arial"/>
              </a:rPr>
              <a:t>Same cases, split roles, different outcome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058400" y="38404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0:45 – 1:00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48640" y="1508760"/>
            <a:ext cx="3520440" cy="342900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 w="15875">
            <a:solidFill>
              <a:srgbClr val="E5484D"/>
            </a:solidFill>
          </a:ln>
        </p:spPr>
        <p:txBody>
          <a:bodyPr wrap="square" lIns="228600" tIns="228600" rIns="228600" bIns="22860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E5484D"/>
                </a:solidFill>
                <a:latin typeface="Arial"/>
                <a:cs typeface="Arial"/>
              </a:rPr>
              <a:t>Claude alone, raw record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2600" b="1" dirty="0">
                <a:solidFill>
                  <a:srgbClr val="F2F3F5"/>
                </a:solidFill>
                <a:latin typeface="Arial"/>
                <a:cs typeface="Arial"/>
              </a:rPr>
              <a:t>0 / 4  </a:t>
            </a:r>
            <a:r>
              <a:rPr lang="en-US" sz="1400" b="0" dirty="0">
                <a:solidFill>
                  <a:srgbClr val="9AA0AA"/>
                </a:solidFill>
                <a:latin typeface="Arial"/>
                <a:cs typeface="Arial"/>
              </a:rPr>
              <a:t>grades right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2600" b="1" dirty="0">
                <a:solidFill>
                  <a:srgbClr val="F2F3F5"/>
                </a:solidFill>
                <a:latin typeface="Arial"/>
                <a:cs typeface="Arial"/>
              </a:rPr>
              <a:t>1 / 6  </a:t>
            </a:r>
            <a:r>
              <a:rPr lang="en-US" sz="1400" b="0" dirty="0">
                <a:solidFill>
                  <a:srgbClr val="9AA0AA"/>
                </a:solidFill>
                <a:latin typeface="Arial"/>
                <a:cs typeface="Arial"/>
              </a:rPr>
              <a:t>replies with an invented number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2600" b="1" dirty="0">
                <a:solidFill>
                  <a:srgbClr val="F2F3F5"/>
                </a:solidFill>
                <a:latin typeface="Arial"/>
                <a:cs typeface="Arial"/>
              </a:rPr>
              <a:t>5 / 6  </a:t>
            </a:r>
            <a:r>
              <a:rPr lang="en-US" sz="1400" b="0" dirty="0">
                <a:solidFill>
                  <a:srgbClr val="9AA0AA"/>
                </a:solidFill>
                <a:latin typeface="Arial"/>
                <a:cs typeface="Arial"/>
              </a:rPr>
              <a:t>replies passed the guard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251959" y="1508760"/>
            <a:ext cx="3520440" cy="342900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 w="15875">
            <a:solidFill>
              <a:srgbClr val="5CC48A"/>
            </a:solidFill>
          </a:ln>
        </p:spPr>
        <p:txBody>
          <a:bodyPr wrap="square" lIns="228600" tIns="228600" rIns="228600" bIns="22860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5CC48A"/>
                </a:solidFill>
                <a:latin typeface="Arial"/>
                <a:cs typeface="Arial"/>
              </a:rPr>
              <a:t>Engine + Claude + guard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2600" b="1" dirty="0">
                <a:solidFill>
                  <a:srgbClr val="F2F3F5"/>
                </a:solidFill>
                <a:latin typeface="Arial"/>
                <a:cs typeface="Arial"/>
              </a:rPr>
              <a:t>4 / 4  </a:t>
            </a:r>
            <a:r>
              <a:rPr lang="en-US" sz="1400" b="0" dirty="0">
                <a:solidFill>
                  <a:srgbClr val="9AA0AA"/>
                </a:solidFill>
                <a:latin typeface="Arial"/>
                <a:cs typeface="Arial"/>
              </a:rPr>
              <a:t>grades right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2600" b="1" dirty="0">
                <a:solidFill>
                  <a:srgbClr val="F2F3F5"/>
                </a:solidFill>
                <a:latin typeface="Arial"/>
                <a:cs typeface="Arial"/>
              </a:rPr>
              <a:t>0 / 6  </a:t>
            </a:r>
            <a:r>
              <a:rPr lang="en-US" sz="1400" b="0" dirty="0">
                <a:solidFill>
                  <a:srgbClr val="9AA0AA"/>
                </a:solidFill>
                <a:latin typeface="Arial"/>
                <a:cs typeface="Arial"/>
              </a:rPr>
              <a:t>replies with an invented number</a:t>
            </a:r>
          </a:p>
          <a:p>
            <a:pPr algn="l">
              <a:spcBef>
                <a:spcPts val="1000"/>
              </a:spcBef>
              <a:buNone/>
            </a:pPr>
            <a:r>
              <a:rPr lang="en-US" sz="2600" b="1" dirty="0">
                <a:solidFill>
                  <a:srgbClr val="F2F3F5"/>
                </a:solidFill>
                <a:latin typeface="Arial"/>
                <a:cs typeface="Arial"/>
              </a:rPr>
              <a:t>6 / 6  </a:t>
            </a:r>
            <a:r>
              <a:rPr lang="en-US" sz="1400" b="0" dirty="0">
                <a:solidFill>
                  <a:srgbClr val="9AA0AA"/>
                </a:solidFill>
                <a:latin typeface="Arial"/>
                <a:cs typeface="Arial"/>
              </a:rPr>
              <a:t>replies passed the guard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001000" y="1508760"/>
            <a:ext cx="3611880" cy="342900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E8735A"/>
                </a:solidFill>
                <a:latin typeface="Arial"/>
                <a:cs typeface="Arial"/>
              </a:rPr>
              <a:t>Engine alone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2F3F5"/>
                </a:solidFill>
                <a:latin typeface="Arial"/>
                <a:cs typeface="Arial"/>
              </a:rPr>
              <a:t>94 / 94</a:t>
            </a:r>
          </a:p>
          <a:p>
            <a:pPr algn="l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9AA0AA"/>
                </a:solidFill>
                <a:latin typeface="Arial"/>
                <a:cs typeface="Arial"/>
              </a:rPr>
              <a:t>rule cases match the expected grade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2F3F5"/>
                </a:solidFill>
                <a:latin typeface="Arial"/>
                <a:cs typeface="Arial"/>
              </a:rPr>
              <a:t>0</a:t>
            </a:r>
          </a:p>
          <a:p>
            <a:pPr algn="l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9AA0AA"/>
                </a:solidFill>
                <a:latin typeface="Arial"/>
                <a:cs typeface="Arial"/>
              </a:rPr>
              <a:t>changes to the result from injected text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F2F3F5"/>
                </a:solidFill>
                <a:latin typeface="Arial"/>
                <a:cs typeface="Arial"/>
              </a:rPr>
              <a:t>102</a:t>
            </a:r>
          </a:p>
          <a:p>
            <a:pPr algn="l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9AA0AA"/>
                </a:solidFill>
                <a:latin typeface="Arial"/>
                <a:cs typeface="Arial"/>
              </a:rPr>
              <a:t>open, sourced test cases for anyone to benchmark their own AI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222631"/>
          </a:solidFill>
          <a:ln>
            <a:noFill/>
          </a:ln>
        </p:spPr>
        <p:txBody>
          <a:bodyPr wrap="square" lIns="182880" tIns="182880" rIns="182880" bIns="18288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00" b="1" dirty="0">
                <a:solidFill>
                  <a:srgbClr val="E9B949"/>
                </a:solidFill>
                <a:latin typeface="Arial"/>
                <a:cs typeface="Arial"/>
              </a:rPr>
              <a:t>Honest limits: </a:t>
            </a:r>
            <a:r>
              <a:rPr lang="en-US" sz="1300" b="0" dirty="0">
                <a:solidFill>
                  <a:srgbClr val="F2F3F5"/>
                </a:solidFill>
                <a:latin typeface="Arial"/>
                <a:cs typeface="Arial"/>
              </a:rPr>
              <a:t>the end-to-end numbers come from a first smoke run (5 cases, 1 run each). All cases are synthetic and written by us. This is not clinical validation.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COR Studio  ·  Healthcare &amp; Biotech  ·  synthetic and open data  ·  not a medical device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8735A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E8735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4" name="Text 4"/>
          <p:cNvSpPr txBox="1"/>
          <p:nvPr/>
        </p:nvSpPr>
        <p:spPr>
          <a:xfrm>
            <a:off x="731520" y="384048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E8735A"/>
                </a:solidFill>
                <a:latin typeface="Arial"/>
                <a:cs typeface="Arial"/>
              </a:rPr>
              <a:t>LIVE DEMO · 40 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1520" y="65836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2F3F5"/>
                </a:solidFill>
                <a:latin typeface="Arial"/>
                <a:cs typeface="Arial"/>
              </a:rPr>
              <a:t>One synthetic patient, end to end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058400" y="38404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1:00 – 1:40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48640" y="1554480"/>
            <a:ext cx="566928" cy="1115568"/>
          </a:xfrm>
          <a:prstGeom prst="roundRect">
            <a:avLst>
              <a:gd name="adj" fmla="val 8000"/>
            </a:avLst>
          </a:prstGeom>
          <a:solidFill>
            <a:srgbClr val="E8735A"/>
          </a:solidFill>
          <a:ln>
            <a:noFill/>
          </a:ln>
        </p:spPr>
        <p:txBody>
          <a:bodyPr wrap="square" lIns="18288" tIns="18288" rIns="18288" bIns="18288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F1115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207008" y="1554480"/>
            <a:ext cx="4160520" cy="1115568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F2F3F5"/>
                </a:solidFill>
                <a:latin typeface="Arial"/>
                <a:cs typeface="Arial"/>
              </a:rPr>
              <a:t>Grade &amp; ask  </a:t>
            </a: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15 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9AA0AA"/>
                </a:solidFill>
                <a:latin typeface="Arial"/>
                <a:cs typeface="Arial"/>
              </a:rPr>
              <a:t>Synthetic 04 (aortic stenosis): moderate, with rule id + DOI. "Why moderate?" The view jumps to the valve; the answer cites [R#].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48640" y="2852928"/>
            <a:ext cx="566928" cy="1115568"/>
          </a:xfrm>
          <a:prstGeom prst="roundRect">
            <a:avLst>
              <a:gd name="adj" fmla="val 8000"/>
            </a:avLst>
          </a:prstGeom>
          <a:solidFill>
            <a:srgbClr val="E8735A"/>
          </a:solidFill>
          <a:ln>
            <a:noFill/>
          </a:ln>
        </p:spPr>
        <p:txBody>
          <a:bodyPr wrap="square" lIns="18288" tIns="18288" rIns="18288" bIns="18288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F1115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207008" y="2852928"/>
            <a:ext cx="4160520" cy="1115568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F2F3F5"/>
                </a:solidFill>
                <a:latin typeface="Arial"/>
                <a:cs typeface="Arial"/>
              </a:rPr>
              <a:t>Outlook  </a:t>
            </a: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12 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9AA0AA"/>
                </a:solidFill>
                <a:latin typeface="Arial"/>
                <a:cs typeface="Arial"/>
              </a:rPr>
              <a:t>+5 years: cohort average with a range. Not a forecast for this patient.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8640" y="4151376"/>
            <a:ext cx="566928" cy="1115568"/>
          </a:xfrm>
          <a:prstGeom prst="roundRect">
            <a:avLst>
              <a:gd name="adj" fmla="val 8000"/>
            </a:avLst>
          </a:prstGeom>
          <a:solidFill>
            <a:srgbClr val="E8735A"/>
          </a:solidFill>
          <a:ln>
            <a:noFill/>
          </a:ln>
        </p:spPr>
        <p:txBody>
          <a:bodyPr wrap="square" lIns="18288" tIns="18288" rIns="18288" bIns="18288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200" b="1" dirty="0">
                <a:solidFill>
                  <a:srgbClr val="0F1115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207008" y="4151376"/>
            <a:ext cx="4160520" cy="1115568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dirty="0">
                <a:solidFill>
                  <a:srgbClr val="F2F3F5"/>
                </a:solidFill>
                <a:latin typeface="Arial"/>
                <a:cs typeface="Arial"/>
              </a:rPr>
              <a:t>Brain  </a:t>
            </a: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13 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200" b="0" dirty="0">
                <a:solidFill>
                  <a:srgbClr val="9AA0AA"/>
                </a:solidFill>
                <a:latin typeface="Arial"/>
                <a:cs typeface="Arial"/>
              </a:rPr>
              <a:t>Hippocampus volume vs published ageing ranges, with linked MRI slices.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48640" y="5559552"/>
            <a:ext cx="4818888" cy="685800"/>
          </a:xfrm>
          <a:prstGeom prst="roundRect">
            <a:avLst>
              <a:gd name="adj" fmla="val 8000"/>
            </a:avLst>
          </a:prstGeom>
          <a:solidFill>
            <a:srgbClr val="222631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E9B949"/>
                </a:solidFill>
                <a:latin typeface="Arial"/>
                <a:cs typeface="Arial"/>
              </a:rPr>
              <a:t>On screen: </a:t>
            </a:r>
            <a:r>
              <a:rPr lang="en-US" sz="1150" b="0" dirty="0">
                <a:solidFill>
                  <a:srgbClr val="F2F3F5"/>
                </a:solidFill>
                <a:latin typeface="Arial"/>
                <a:cs typeface="Arial"/>
              </a:rPr>
              <a:t>synthetic patient · data sources credited · not a medical device. Backup recording ready.</a:t>
            </a:r>
          </a:p>
        </p:txBody>
      </p:sp>
      <p:pic>
        <p:nvPicPr>
          <p:cNvPr id="14" name="e2e-outlook-heart-as-5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554480"/>
            <a:ext cx="5989320" cy="4148565"/>
          </a:xfrm>
          <a:prstGeom prst="rect">
            <a:avLst/>
          </a:prstGeom>
          <a:ln w="9525">
            <a:solidFill>
              <a:srgbClr val="2C313C"/>
            </a:solidFill>
          </a:ln>
        </p:spPr>
      </p:pic>
      <p:sp>
        <p:nvSpPr>
          <p:cNvPr id="15" name="Text 15"/>
          <p:cNvSpPr txBox="1"/>
          <p:nvPr/>
        </p:nvSpPr>
        <p:spPr>
          <a:xfrm>
            <a:off x="5623560" y="5757909"/>
            <a:ext cx="5989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Backup screenshot: Outlook, Synthetic 04, today vs +5 years (cohort average)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COR Studio  ·  Healthcare &amp; Biotech  ·  synthetic and open data  ·  not a medical device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8735A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E8735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4" name="Text 4"/>
          <p:cNvSpPr txBox="1"/>
          <p:nvPr/>
        </p:nvSpPr>
        <p:spPr>
          <a:xfrm>
            <a:off x="731520" y="384048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E8735A"/>
                </a:solidFill>
                <a:latin typeface="Arial"/>
                <a:cs typeface="Arial"/>
              </a:rPr>
              <a:t>DATA &amp; ETHICS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1520" y="65836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2F3F5"/>
                </a:solidFill>
                <a:latin typeface="Arial"/>
                <a:cs typeface="Arial"/>
              </a:rPr>
              <a:t>Where the data comes from, and its limits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058400" y="38404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1:40 – 2:05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48640" y="1536192"/>
            <a:ext cx="5468112" cy="118872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146304" tIns="146304" rIns="146304" bIns="146304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E8735A"/>
                </a:solidFill>
                <a:latin typeface="Arial"/>
                <a:cs typeface="Arial"/>
              </a:rPr>
              <a:t>Behind a login?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b="0" dirty="0">
                <a:solidFill>
                  <a:srgbClr val="F2F3F5"/>
                </a:solidFill>
                <a:latin typeface="Arial"/>
                <a:cs typeface="Arial"/>
              </a:rPr>
              <a:t>No. Only datasets published for reuse with no registration. Gated and registration-only sets were left out.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144768" y="1536192"/>
            <a:ext cx="5468112" cy="118872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146304" tIns="146304" rIns="146304" bIns="146304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E8735A"/>
                </a:solidFill>
                <a:latin typeface="Arial"/>
                <a:cs typeface="Arial"/>
              </a:rPr>
              <a:t>Terms &amp; licences?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b="0" dirty="0">
                <a:solidFill>
                  <a:srgbClr val="F2F3F5"/>
                </a:solidFill>
                <a:latin typeface="Arial"/>
                <a:cs typeface="Arial"/>
              </a:rPr>
              <a:t>Licence checked before every source (team rule). TotalSegmentator v1, Mindboggle-101, Rodero 2021: CC BY 4.0. BodyParts3D: CC BY-SA.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48640" y="2834639"/>
            <a:ext cx="5468112" cy="118872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146304" tIns="146304" rIns="146304" bIns="146304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E8735A"/>
                </a:solidFill>
                <a:latin typeface="Arial"/>
                <a:cs typeface="Arial"/>
              </a:rPr>
              <a:t>Official export, not scraping?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b="0" dirty="0">
                <a:solidFill>
                  <a:srgbClr val="F2F3F5"/>
                </a:solidFill>
                <a:latin typeface="Arial"/>
                <a:cs typeface="Arial"/>
              </a:rPr>
              <a:t>Official dataset releases (Zenodo, OSF). No site is scraped. Guidelines: our own rule summaries + DOI, no copied text.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144768" y="2834639"/>
            <a:ext cx="5468112" cy="118872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146304" tIns="146304" rIns="146304" bIns="146304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E8735A"/>
                </a:solidFill>
                <a:latin typeface="Arial"/>
                <a:cs typeface="Arial"/>
              </a:rPr>
              <a:t>Personal info?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b="0" dirty="0">
                <a:solidFill>
                  <a:srgbClr val="F2F3F5"/>
                </a:solidFill>
                <a:latin typeface="Arial"/>
                <a:cs typeface="Arial"/>
              </a:rPr>
              <a:t>No real patients; all records are synthetic. Open imaging is de-identified by its publishers. The AI never gets the raw record.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8640" y="4133087"/>
            <a:ext cx="5468112" cy="118872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146304" tIns="146304" rIns="146304" bIns="146304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E8735A"/>
                </a:solidFill>
                <a:latin typeface="Arial"/>
                <a:cs typeface="Arial"/>
              </a:rPr>
              <a:t>Credit &amp; link back?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b="0" dirty="0">
                <a:solidFill>
                  <a:srgbClr val="F2F3F5"/>
                </a:solidFill>
                <a:latin typeface="Arial"/>
                <a:cs typeface="Arial"/>
              </a:rPr>
              <a:t>The viewer names the dataset and licence (e.g. "Healthy adult volunteer · CC BY 4.0"). Every finding links its guideline DOI.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144768" y="4133087"/>
            <a:ext cx="5468112" cy="118872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146304" tIns="146304" rIns="146304" bIns="146304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E8735A"/>
                </a:solidFill>
                <a:latin typeface="Arial"/>
                <a:cs typeface="Arial"/>
              </a:rPr>
              <a:t>Changes later?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200" b="0" dirty="0">
                <a:solidFill>
                  <a:srgbClr val="F2F3F5"/>
                </a:solidFill>
                <a:latin typeface="Arial"/>
                <a:cs typeface="Arial"/>
              </a:rPr>
              <a:t>Dataset versions are pinned. Each rule names its guideline + year. When a guideline changes, we update the rule and boundary tests show what moved.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48640" y="5468112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222631"/>
          </a:solidFill>
          <a:ln>
            <a:noFill/>
          </a:ln>
        </p:spPr>
        <p:txBody>
          <a:bodyPr wrap="square" lIns="146304" tIns="146304" rIns="146304" bIns="146304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E9B949"/>
                </a:solidFill>
                <a:latin typeface="Arial"/>
                <a:cs typeface="Arial"/>
              </a:rPr>
              <a:t>Limits we state in the demo: </a:t>
            </a:r>
            <a:r>
              <a:rPr lang="en-US" sz="1250" b="0" dirty="0">
                <a:solidFill>
                  <a:srgbClr val="F2F3F5"/>
                </a:solidFill>
                <a:latin typeface="Arial"/>
                <a:cs typeface="Arial"/>
              </a:rPr>
              <a:t>not a medical device, gives no diagnosis · red flags only say "urgent specialist review" · outlook = cohort averages with ranges, never an individual forecast · one 3D template is illustrative and is labelled that way.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COR Studio  ·  Healthcare &amp; Biotech  ·  synthetic and open data  ·  not a medical device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8735A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E8735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4" name="Text 4"/>
          <p:cNvSpPr txBox="1"/>
          <p:nvPr/>
        </p:nvSpPr>
        <p:spPr>
          <a:xfrm>
            <a:off x="731520" y="384048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E8735A"/>
                </a:solidFill>
                <a:latin typeface="Arial"/>
                <a:cs typeface="Arial"/>
              </a:rPr>
              <a:t>BUILT WITH KIRO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1520" y="65836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2F3F5"/>
                </a:solidFill>
                <a:latin typeface="Arial"/>
                <a:cs typeface="Arial"/>
              </a:rPr>
              <a:t>Spec-first, so every number traces to a source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058400" y="38404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2:05 – 2:20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48640" y="160020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219456" tIns="219456" rIns="219456" bIns="219456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E8735A"/>
                </a:solidFill>
                <a:latin typeface="Arial"/>
                <a:cs typeface="Arial"/>
              </a:rPr>
              <a:t>Specs</a:t>
            </a:r>
          </a:p>
          <a:p>
            <a:pPr algn="l" marL="228600" indent="-228600">
              <a:spcBef>
                <a:spcPts val="9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300" b="0" dirty="0">
                <a:solidFill>
                  <a:srgbClr val="F2F3F5"/>
                </a:solidFill>
                <a:latin typeface="Arial"/>
                <a:cs typeface="Arial"/>
              </a:rPr>
              <a:t>diagnosis-engine: 12 EARS requirements, 41 rule ids, each with a DOI</a:t>
            </a:r>
          </a:p>
          <a:p>
            <a:pPr algn="l" marL="228600" indent="-228600">
              <a:spcBef>
                <a:spcPts val="9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300" b="0" dirty="0">
                <a:solidFill>
                  <a:srgbClr val="F2F3F5"/>
                </a:solidFill>
                <a:latin typeface="Arial"/>
                <a:cs typeface="Arial"/>
              </a:rPr>
              <a:t>assistant-chat: run task by task (44 recorded executions)</a:t>
            </a:r>
          </a:p>
          <a:p>
            <a:pPr algn="l" marL="228600" indent="-228600">
              <a:spcBef>
                <a:spcPts val="9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300" b="0" dirty="0">
                <a:solidFill>
                  <a:srgbClr val="F2F3F5"/>
                </a:solidFill>
                <a:latin typeface="Arial"/>
                <a:cs typeface="Arial"/>
              </a:rPr>
              <a:t>One shared contract (types.ts) on day one, so we built in parallel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279392" y="160020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219456" tIns="219456" rIns="219456" bIns="219456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E8735A"/>
                </a:solidFill>
                <a:latin typeface="Arial"/>
                <a:cs typeface="Arial"/>
              </a:rPr>
              <a:t>Steering</a:t>
            </a:r>
          </a:p>
          <a:p>
            <a:pPr algn="l" marL="228600" indent="-228600">
              <a:spcBef>
                <a:spcPts val="9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300" b="0" dirty="0">
                <a:solidFill>
                  <a:srgbClr val="F2F3F5"/>
                </a:solidFill>
                <a:latin typeface="Arial"/>
                <a:cs typeface="Arial"/>
              </a:rPr>
              <a:t>Always on: the "not a diagnosis" boundary, folder ownership</a:t>
            </a:r>
          </a:p>
          <a:p>
            <a:pPr algn="l" marL="228600" indent="-228600">
              <a:spcBef>
                <a:spcPts val="9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300" b="0" dirty="0">
                <a:solidFill>
                  <a:srgbClr val="F2F3F5"/>
                </a:solidFill>
                <a:latin typeface="Arial"/>
                <a:cs typeface="Arial"/>
              </a:rPr>
              <a:t>Engine-only: never read free text, no digits without evidence</a:t>
            </a:r>
          </a:p>
          <a:p>
            <a:pPr algn="l" marL="228600" indent="-228600">
              <a:spcBef>
                <a:spcPts val="9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300" b="0" dirty="0">
                <a:solidFill>
                  <a:srgbClr val="F2F3F5"/>
                </a:solidFill>
                <a:latin typeface="Arial"/>
                <a:cs typeface="Arial"/>
              </a:rPr>
              <a:t>On request: how to verify a guideline threshold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010144" y="160020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219456" tIns="219456" rIns="219456" bIns="219456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E8735A"/>
                </a:solidFill>
                <a:latin typeface="Arial"/>
                <a:cs typeface="Arial"/>
              </a:rPr>
              <a:t>Hooks &amp; tests</a:t>
            </a:r>
          </a:p>
          <a:p>
            <a:pPr algn="l" marL="228600" indent="-228600">
              <a:spcBef>
                <a:spcPts val="9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300" b="0" dirty="0">
                <a:solidFill>
                  <a:srgbClr val="F2F3F5"/>
                </a:solidFill>
                <a:latin typeface="Arial"/>
                <a:cs typeface="Arial"/>
              </a:rPr>
              <a:t>Engine tests run on save; data dictionary regenerates</a:t>
            </a:r>
          </a:p>
          <a:p>
            <a:pPr algn="l" marL="228600" indent="-228600">
              <a:spcBef>
                <a:spcPts val="9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300" b="0" dirty="0">
                <a:solidFill>
                  <a:srgbClr val="F2F3F5"/>
                </a:solidFill>
                <a:latin typeface="Arial"/>
                <a:cs typeface="Arial"/>
              </a:rPr>
              <a:t>Boundary tests on both sides: Vmax 3.99/4.00, EF 40/41, QTc 449/450</a:t>
            </a:r>
          </a:p>
          <a:p>
            <a:pPr algn="l" marL="228600" indent="-228600">
              <a:spcBef>
                <a:spcPts val="9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300" b="0" dirty="0">
                <a:solidFill>
                  <a:srgbClr val="F2F3F5"/>
                </a:solidFill>
                <a:latin typeface="Arial"/>
                <a:cs typeface="Arial"/>
              </a:rPr>
              <a:t>Property tests found a real AS staging bug before it shipped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222631"/>
          </a:solidFill>
          <a:ln>
            <a:noFill/>
          </a:ln>
        </p:spPr>
        <p:txBody>
          <a:bodyPr wrap="square" lIns="146304" tIns="146304" rIns="146304" bIns="146304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00" b="0" dirty="0">
                <a:solidFill>
                  <a:srgbClr val="9AA0AA"/>
                </a:solidFill>
                <a:latin typeface="Arial"/>
                <a:cs typeface="Arial"/>
              </a:rPr>
              <a:t>Everything Kiro used is committed in </a:t>
            </a:r>
            <a:r>
              <a:rPr lang="en-US" sz="1300" b="1" dirty="0">
                <a:solidFill>
                  <a:srgbClr val="F2F3F5"/>
                </a:solidFill>
                <a:latin typeface="Arial"/>
                <a:cs typeface="Arial"/>
              </a:rPr>
              <a:t>.kiro/</a:t>
            </a:r>
            <a:r>
              <a:rPr lang="en-US" sz="1300" b="0" dirty="0">
                <a:solidFill>
                  <a:srgbClr val="9AA0AA"/>
                </a:solidFill>
                <a:latin typeface="Arial"/>
                <a:cs typeface="Arial"/>
              </a:rPr>
              <a:t>: specs, steering, hooks. Kiro Web also ran the pull → typecheck → test → push loop.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COR Studio  ·  Healthcare &amp; Biotech  ·  synthetic and open data  ·  not a medical device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 txBox="1"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8735A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" b="0" dirty="0">
                <a:solidFill>
                  <a:srgbClr val="E8735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4" name="Text 4"/>
          <p:cNvSpPr txBox="1"/>
          <p:nvPr/>
        </p:nvSpPr>
        <p:spPr>
          <a:xfrm>
            <a:off x="731520" y="384048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E8735A"/>
                </a:solidFill>
                <a:latin typeface="Arial"/>
                <a:cs typeface="Arial"/>
              </a:rPr>
              <a:t>WHAT'S NEXT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1520" y="65836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2F3F5"/>
                </a:solidFill>
                <a:latin typeface="Arial"/>
                <a:cs typeface="Arial"/>
              </a:rPr>
              <a:t>From demo to something clinicians can trust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058400" y="38404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100" b="0" dirty="0">
                <a:solidFill>
                  <a:srgbClr val="9AA0AA"/>
                </a:solidFill>
                <a:latin typeface="Arial"/>
                <a:cs typeface="Arial"/>
              </a:rPr>
              <a:t>2:20 – 2:30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48640" y="1600200"/>
            <a:ext cx="5486400" cy="356616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E8735A"/>
                </a:solidFill>
                <a:latin typeface="Arial"/>
                <a:cs typeface="Arial"/>
              </a:rPr>
              <a:t>Next steps</a:t>
            </a:r>
          </a:p>
          <a:p>
            <a:pPr algn="l" marL="228600" indent="-228600">
              <a:spcBef>
                <a:spcPts val="10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400" b="0" dirty="0">
                <a:solidFill>
                  <a:srgbClr val="F2F3F5"/>
                </a:solidFill>
                <a:latin typeface="Arial"/>
                <a:cs typeface="Arial"/>
              </a:rPr>
              <a:t>Clinician review of every rule and threshold</a:t>
            </a:r>
          </a:p>
          <a:p>
            <a:pPr algn="l" marL="228600" indent="-228600">
              <a:spcBef>
                <a:spcPts val="10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400" b="0" dirty="0">
                <a:solidFill>
                  <a:srgbClr val="F2F3F5"/>
                </a:solidFill>
                <a:latin typeface="Arial"/>
                <a:cs typeface="Arial"/>
              </a:rPr>
              <a:t>Full evaluation: all 102 cases, both models, 3 runs</a:t>
            </a:r>
          </a:p>
          <a:p>
            <a:pPr algn="l" marL="228600" indent="-228600">
              <a:spcBef>
                <a:spcPts val="10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400" b="0" dirty="0">
                <a:solidFill>
                  <a:srgbClr val="F2F3F5"/>
                </a:solidFill>
                <a:latin typeface="Arial"/>
                <a:cs typeface="Arial"/>
              </a:rPr>
              <a:t>Management options: only the verified ones (1 of 12 so far)</a:t>
            </a:r>
          </a:p>
          <a:p>
            <a:pPr algn="l" marL="228600" indent="-228600">
              <a:spcBef>
                <a:spcPts val="10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400" b="0" dirty="0">
                <a:solidFill>
                  <a:srgbClr val="F2F3F5"/>
                </a:solidFill>
                <a:latin typeface="Arial"/>
                <a:cs typeface="Arial"/>
              </a:rPr>
              <a:t>More guidelines, each with a verified threshold table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172200" y="1600200"/>
            <a:ext cx="5440680" cy="3566160"/>
          </a:xfrm>
          <a:prstGeom prst="roundRect">
            <a:avLst>
              <a:gd name="adj" fmla="val 8000"/>
            </a:avLst>
          </a:prstGeom>
          <a:solidFill>
            <a:srgbClr val="181B22"/>
          </a:solidFill>
          <a:ln>
            <a:noFill/>
          </a:ln>
        </p:spPr>
        <p:txBody>
          <a:bodyPr wrap="square" lIns="228600" tIns="228600" rIns="228600" bIns="22860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700" b="1" dirty="0">
                <a:solidFill>
                  <a:srgbClr val="E8735A"/>
                </a:solidFill>
                <a:latin typeface="Arial"/>
                <a:cs typeface="Arial"/>
              </a:rPr>
              <a:t>For researchers, today</a:t>
            </a:r>
          </a:p>
          <a:p>
            <a:pPr algn="l" marL="228600" indent="-228600">
              <a:spcBef>
                <a:spcPts val="10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400" b="0" dirty="0">
                <a:solidFill>
                  <a:srgbClr val="F2F3F5"/>
                </a:solidFill>
                <a:latin typeface="Arial"/>
                <a:cs typeface="Arial"/>
              </a:rPr>
              <a:t>Grade whole cohorts the same way every time, with an audit trail</a:t>
            </a:r>
          </a:p>
          <a:p>
            <a:pPr algn="l" marL="228600" indent="-228600">
              <a:spcBef>
                <a:spcPts val="10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400" b="0" dirty="0">
                <a:solidFill>
                  <a:srgbClr val="F2F3F5"/>
                </a:solidFill>
                <a:latin typeface="Arial"/>
                <a:cs typeface="Arial"/>
              </a:rPr>
              <a:t>Benchmark your own AI on 102 open, sourced cases</a:t>
            </a:r>
          </a:p>
          <a:p>
            <a:pPr algn="l" marL="228600" indent="-228600">
              <a:spcBef>
                <a:spcPts val="10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400" b="0" dirty="0">
                <a:solidFill>
                  <a:srgbClr val="F2F3F5"/>
                </a:solidFill>
                <a:latin typeface="Arial"/>
                <a:cs typeface="Arial"/>
              </a:rPr>
              <a:t>Flag incomplete datasets: each missing field and why it matters</a:t>
            </a:r>
          </a:p>
          <a:p>
            <a:pPr algn="l" marL="228600" indent="-228600">
              <a:spcBef>
                <a:spcPts val="1000"/>
              </a:spcBef>
              <a:buClr>
                <a:srgbClr val="E8735A"/>
              </a:buClr>
              <a:buFont typeface="Arial"/>
              <a:buChar char="•"/>
            </a:pPr>
            <a:r>
              <a:rPr lang="en-US" sz="1400" b="0" dirty="0">
                <a:solidFill>
                  <a:srgbClr val="F2F3F5"/>
                </a:solidFill>
                <a:latin typeface="Arial"/>
                <a:cs typeface="Arial"/>
              </a:rPr>
              <a:t>Teach guideline grading with every threshold visible</a:t>
            </a:r>
          </a:p>
        </p:txBody>
      </p:sp>
      <p:pic>
        <p:nvPicPr>
          <p:cNvPr id="9" name="hear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230368"/>
            <a:ext cx="1097280" cy="1097280"/>
          </a:xfrm>
          <a:prstGeom prst="rect">
            <a:avLst/>
          </a:prstGeom>
          <a:ln>
            <a:noFill/>
          </a:ln>
        </p:spPr>
      </p:pic>
      <p:pic>
        <p:nvPicPr>
          <p:cNvPr id="10" name="brai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230368"/>
            <a:ext cx="1097280" cy="1097280"/>
          </a:xfrm>
          <a:prstGeom prst="rect">
            <a:avLst/>
          </a:prstGeom>
          <a:ln>
            <a:noFill/>
          </a:ln>
        </p:spPr>
      </p:pic>
      <p:sp>
        <p:nvSpPr>
          <p:cNvPr id="11" name="Text 11"/>
          <p:cNvSpPr txBox="1"/>
          <p:nvPr/>
        </p:nvSpPr>
        <p:spPr>
          <a:xfrm>
            <a:off x="1874519" y="5394960"/>
            <a:ext cx="845820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100" b="1" dirty="0">
                <a:solidFill>
                  <a:srgbClr val="F2F3F5"/>
                </a:solidFill>
                <a:latin typeface="Arial"/>
                <a:cs typeface="Arial"/>
              </a:rPr>
              <a:t>COR Studio  ·  the AI explains, code checks every number.  Thank you!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COR Studio  ·  Healthcare &amp; Biotech  ·  synthetic and open data  ·  not a medical device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r">
              <a:spcBef>
                <a:spcPts val="0"/>
              </a:spcBef>
              <a:buNone/>
            </a:pPr>
            <a:r>
              <a:rPr lang="en-US" sz="1000" b="0" dirty="0">
                <a:solidFill>
                  <a:srgbClr val="9AA0AA"/>
                </a:solidFill>
                <a:latin typeface="Arial"/>
                <a:cs typeface="Arial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">
  <a:themeElements>
    <a:clrScheme name="COR">
      <a:dk1>
        <a:srgbClr val="000000"/>
      </a:dk1>
      <a:lt1>
        <a:srgbClr val="FFFFFF"/>
      </a:lt1>
      <a:dk2>
        <a:srgbClr val="0F1115"/>
      </a:dk2>
      <a:lt2>
        <a:srgbClr val="F2F3F5"/>
      </a:lt2>
      <a:accent1>
        <a:srgbClr val="E8735A"/>
      </a:accent1>
      <a:accent2>
        <a:srgbClr val="8AB4F8"/>
      </a:accent2>
      <a:accent3>
        <a:srgbClr val="5CC48A"/>
      </a:accent3>
      <a:accent4>
        <a:srgbClr val="E9B949"/>
      </a:accent4>
      <a:accent5>
        <a:srgbClr val="E5484D"/>
      </a:accent5>
      <a:accent6>
        <a:srgbClr val="9AA0AA"/>
      </a:accent6>
      <a:hlink>
        <a:srgbClr val="8AB4F8"/>
      </a:hlink>
      <a:folHlink>
        <a:srgbClr val="B39DDB"/>
      </a:folHlink>
    </a:clrScheme>
    <a:fontScheme name="CO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R">
  <a:themeElements>
    <a:clrScheme name="COR">
      <a:dk1>
        <a:srgbClr val="000000"/>
      </a:dk1>
      <a:lt1>
        <a:srgbClr val="FFFFFF"/>
      </a:lt1>
      <a:dk2>
        <a:srgbClr val="0F1115"/>
      </a:dk2>
      <a:lt2>
        <a:srgbClr val="F2F3F5"/>
      </a:lt2>
      <a:accent1>
        <a:srgbClr val="E8735A"/>
      </a:accent1>
      <a:accent2>
        <a:srgbClr val="8AB4F8"/>
      </a:accent2>
      <a:accent3>
        <a:srgbClr val="5CC48A"/>
      </a:accent3>
      <a:accent4>
        <a:srgbClr val="E9B949"/>
      </a:accent4>
      <a:accent5>
        <a:srgbClr val="E5484D"/>
      </a:accent5>
      <a:accent6>
        <a:srgbClr val="9AA0AA"/>
      </a:accent6>
      <a:hlink>
        <a:srgbClr val="8AB4F8"/>
      </a:hlink>
      <a:folHlink>
        <a:srgbClr val="B39DDB"/>
      </a:folHlink>
    </a:clrScheme>
    <a:fontScheme name="CO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8</Slides>
</Properties>
</file>

<file path=docProps/core.xml><?xml version="1.0" encoding="utf-8"?>
<cp:coreProperties xmlns:cp="http://schemas.openxmlformats.org/package/2006/metadata/core-properties" xmlns:dc="http://purl.org/dc/elements/1.1/">
  <dc:title>COR Studio pitch</dc:title>
  <dc:creator>Team COR</dc:creator>
</cp:coreProperties>
</file>